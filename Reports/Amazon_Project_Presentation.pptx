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714" r:id="rId2"/>
  </p:sldMasterIdLst>
  <p:sldIdLst>
    <p:sldId id="256" r:id="rId3"/>
    <p:sldId id="257" r:id="rId4"/>
    <p:sldId id="258" r:id="rId5"/>
    <p:sldId id="260" r:id="rId6"/>
    <p:sldId id="259"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9185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1607686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4033747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9F4D60-B43D-4815-8EBD-8F04B60863A7}"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444301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9F4D60-B43D-4815-8EBD-8F04B60863A7}" type="datetimeFigureOut">
              <a:rPr lang="en-IN" smtClean="0"/>
              <a:t>17-06-2026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755386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9F4D60-B43D-4815-8EBD-8F04B60863A7}" type="datetimeFigureOut">
              <a:rPr lang="en-IN" smtClean="0"/>
              <a:t>17-06-2026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243586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9F4D60-B43D-4815-8EBD-8F04B60863A7}" type="datetimeFigureOut">
              <a:rPr lang="en-IN" smtClean="0"/>
              <a:t>17-06-2026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3563771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C9F4D60-B43D-4815-8EBD-8F04B60863A7}"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2917187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C9F4D60-B43D-4815-8EBD-8F04B60863A7}"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3734044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5C9F4D60-B43D-4815-8EBD-8F04B60863A7}" type="datetimeFigureOut">
              <a:rPr lang="en-IN" smtClean="0"/>
              <a:t>17-06-2026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57278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427180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6562324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1865317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532094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2463938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41319335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627341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23900953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3293698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2679809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9F4D60-B43D-4815-8EBD-8F04B60863A7}"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20026853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9F4D60-B43D-4815-8EBD-8F04B60863A7}" type="datetimeFigureOut">
              <a:rPr lang="en-IN" smtClean="0"/>
              <a:t>17-06-2026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32138685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30965135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38371782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29160649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C9F4D60-B43D-4815-8EBD-8F04B60863A7}"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41093942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C9F4D60-B43D-4815-8EBD-8F04B60863A7}"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37093887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26079132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170205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20001344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4492668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39594732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29544159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F4D60-B43D-4815-8EBD-8F04B60863A7}"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54FF38-88BF-4E57-A581-E05D148E713E}" type="slidenum">
              <a:rPr lang="en-IN" smtClean="0"/>
              <a:t>‹#›</a:t>
            </a:fld>
            <a:endParaRPr lang="en-IN"/>
          </a:p>
        </p:txBody>
      </p:sp>
    </p:spTree>
    <p:extLst>
      <p:ext uri="{BB962C8B-B14F-4D97-AF65-F5344CB8AC3E}">
        <p14:creationId xmlns:p14="http://schemas.microsoft.com/office/powerpoint/2010/main" val="1128169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21" Type="http://schemas.openxmlformats.org/officeDocument/2006/relationships/image" Target="../media/image4.png"/><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3.pn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2.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C9F4D60-B43D-4815-8EBD-8F04B60863A7}" type="datetimeFigureOut">
              <a:rPr lang="en-IN" smtClean="0"/>
              <a:t>17-06-2026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F754FF38-88BF-4E57-A581-E05D148E713E}" type="slidenum">
              <a:rPr lang="en-IN" smtClean="0"/>
              <a:t>‹#›</a:t>
            </a:fld>
            <a:endParaRPr lang="en-IN"/>
          </a:p>
        </p:txBody>
      </p:sp>
    </p:spTree>
    <p:extLst>
      <p:ext uri="{BB962C8B-B14F-4D97-AF65-F5344CB8AC3E}">
        <p14:creationId xmlns:p14="http://schemas.microsoft.com/office/powerpoint/2010/main" val="184455212"/>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C9F4D60-B43D-4815-8EBD-8F04B60863A7}" type="datetimeFigureOut">
              <a:rPr lang="en-IN" smtClean="0"/>
              <a:t>17-06-2026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754FF38-88BF-4E57-A581-E05D148E713E}" type="slidenum">
              <a:rPr lang="en-IN" smtClean="0"/>
              <a:t>‹#›</a:t>
            </a:fld>
            <a:endParaRPr lang="en-IN"/>
          </a:p>
        </p:txBody>
      </p:sp>
    </p:spTree>
    <p:extLst>
      <p:ext uri="{BB962C8B-B14F-4D97-AF65-F5344CB8AC3E}">
        <p14:creationId xmlns:p14="http://schemas.microsoft.com/office/powerpoint/2010/main" val="2871433741"/>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CD015-327C-4B62-9084-D77E96244B48}"/>
              </a:ext>
            </a:extLst>
          </p:cNvPr>
          <p:cNvSpPr>
            <a:spLocks noGrp="1"/>
          </p:cNvSpPr>
          <p:nvPr>
            <p:ph type="ctrTitle"/>
          </p:nvPr>
        </p:nvSpPr>
        <p:spPr>
          <a:xfrm>
            <a:off x="753035" y="1122363"/>
            <a:ext cx="10802471" cy="2479676"/>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Amazon Order Performance Dashboard</a:t>
            </a:r>
            <a:br>
              <a:rPr lang="en-US" sz="4000" b="1" dirty="0">
                <a:latin typeface="Times New Roman" panose="02020603050405020304" pitchFamily="18" charset="0"/>
                <a:cs typeface="Times New Roman" panose="02020603050405020304" pitchFamily="18" charset="0"/>
              </a:rPr>
            </a:br>
            <a:r>
              <a:rPr lang="en-US" sz="3600" b="1" dirty="0"/>
              <a:t>Data Analysis Project</a:t>
            </a:r>
            <a:br>
              <a:rPr lang="en-US" b="1" dirty="0"/>
            </a:br>
            <a:r>
              <a:rPr lang="en-US" sz="2700" b="1" dirty="0"/>
              <a:t>Prepared by                  </a:t>
            </a:r>
            <a:br>
              <a:rPr lang="en-US" sz="2700" b="1" dirty="0"/>
            </a:br>
            <a:r>
              <a:rPr lang="en-US" sz="2700" b="1" dirty="0" err="1"/>
              <a:t>Koduri</a:t>
            </a:r>
            <a:r>
              <a:rPr lang="en-US" sz="2700" b="1" dirty="0"/>
              <a:t> Venkata Swathi</a:t>
            </a:r>
            <a:endParaRPr lang="en-IN" sz="2700" dirty="0"/>
          </a:p>
        </p:txBody>
      </p:sp>
      <p:sp>
        <p:nvSpPr>
          <p:cNvPr id="3" name="Subtitle 2">
            <a:extLst>
              <a:ext uri="{FF2B5EF4-FFF2-40B4-BE49-F238E27FC236}">
                <a16:creationId xmlns:a16="http://schemas.microsoft.com/office/drawing/2014/main" id="{E4B7C394-5660-48D5-88D0-2BB3E3C44C06}"/>
              </a:ext>
            </a:extLst>
          </p:cNvPr>
          <p:cNvSpPr>
            <a:spLocks noGrp="1"/>
          </p:cNvSpPr>
          <p:nvPr>
            <p:ph type="subTitle" idx="1"/>
          </p:nvPr>
        </p:nvSpPr>
        <p:spPr>
          <a:xfrm>
            <a:off x="905435" y="4356846"/>
            <a:ext cx="10408024" cy="2097741"/>
          </a:xfrm>
        </p:spPr>
        <p:txBody>
          <a:bodyPr/>
          <a:lstStyle/>
          <a:p>
            <a:pPr algn="just"/>
            <a:r>
              <a:rPr lang="en-US" sz="2800" dirty="0"/>
              <a:t>Tools Used:</a:t>
            </a:r>
          </a:p>
          <a:p>
            <a:pPr lvl="0" algn="l" eaLnBrk="0" fontAlgn="base" hangingPunct="0">
              <a:lnSpc>
                <a:spcPct val="100000"/>
              </a:lnSpc>
              <a:spcBef>
                <a:spcPct val="0"/>
              </a:spcBef>
              <a:spcAft>
                <a:spcPct val="0"/>
              </a:spcAft>
              <a:buFontTx/>
              <a:buChar char="•"/>
            </a:pPr>
            <a:r>
              <a:rPr lang="en-US" altLang="en-US" sz="2000" dirty="0">
                <a:latin typeface="Arial" panose="020B0604020202020204" pitchFamily="34" charset="0"/>
              </a:rPr>
              <a:t>Python</a:t>
            </a:r>
          </a:p>
          <a:p>
            <a:pPr lvl="0" algn="l" eaLnBrk="0" fontAlgn="base" hangingPunct="0">
              <a:lnSpc>
                <a:spcPct val="100000"/>
              </a:lnSpc>
              <a:spcBef>
                <a:spcPct val="0"/>
              </a:spcBef>
              <a:spcAft>
                <a:spcPct val="0"/>
              </a:spcAft>
              <a:buFontTx/>
              <a:buChar char="•"/>
            </a:pPr>
            <a:r>
              <a:rPr lang="en-US" altLang="en-US" sz="2000" dirty="0">
                <a:latin typeface="Arial" panose="020B0604020202020204" pitchFamily="34" charset="0"/>
              </a:rPr>
              <a:t>SQL</a:t>
            </a:r>
          </a:p>
          <a:p>
            <a:pPr lvl="0" algn="l" eaLnBrk="0" fontAlgn="base" hangingPunct="0">
              <a:lnSpc>
                <a:spcPct val="100000"/>
              </a:lnSpc>
              <a:spcBef>
                <a:spcPct val="0"/>
              </a:spcBef>
              <a:spcAft>
                <a:spcPct val="0"/>
              </a:spcAft>
              <a:buFontTx/>
              <a:buChar char="•"/>
            </a:pPr>
            <a:r>
              <a:rPr lang="en-US" altLang="en-US" sz="2000" dirty="0">
                <a:latin typeface="Arial" panose="020B0604020202020204" pitchFamily="34" charset="0"/>
              </a:rPr>
              <a:t>Excel</a:t>
            </a:r>
          </a:p>
          <a:p>
            <a:pPr lvl="0" algn="l" eaLnBrk="0" fontAlgn="base" hangingPunct="0">
              <a:lnSpc>
                <a:spcPct val="100000"/>
              </a:lnSpc>
              <a:spcBef>
                <a:spcPct val="0"/>
              </a:spcBef>
              <a:spcAft>
                <a:spcPct val="0"/>
              </a:spcAft>
              <a:buFontTx/>
              <a:buChar char="•"/>
            </a:pPr>
            <a:r>
              <a:rPr lang="en-US" altLang="en-US" sz="2000" dirty="0">
                <a:latin typeface="Arial" panose="020B0604020202020204" pitchFamily="34" charset="0"/>
              </a:rPr>
              <a:t>Power BI </a:t>
            </a:r>
          </a:p>
          <a:p>
            <a:pPr algn="just"/>
            <a:endParaRPr lang="en-US" dirty="0"/>
          </a:p>
          <a:p>
            <a:pPr algn="just"/>
            <a:endParaRPr lang="en-IN" dirty="0"/>
          </a:p>
        </p:txBody>
      </p:sp>
    </p:spTree>
    <p:extLst>
      <p:ext uri="{BB962C8B-B14F-4D97-AF65-F5344CB8AC3E}">
        <p14:creationId xmlns:p14="http://schemas.microsoft.com/office/powerpoint/2010/main" val="3393768702"/>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2A4417-8C74-431D-8CE8-E36D1BDF97DE}"/>
              </a:ext>
            </a:extLst>
          </p:cNvPr>
          <p:cNvSpPr>
            <a:spLocks noGrp="1"/>
          </p:cNvSpPr>
          <p:nvPr>
            <p:ph idx="1"/>
          </p:nvPr>
        </p:nvSpPr>
        <p:spPr>
          <a:xfrm>
            <a:off x="684211" y="685801"/>
            <a:ext cx="10754753" cy="5320552"/>
          </a:xfrm>
        </p:spPr>
        <p:txBody>
          <a:bodyPr>
            <a:normAutofit lnSpcReduction="10000"/>
          </a:bodyPr>
          <a:lstStyle/>
          <a:p>
            <a:pPr marL="0" indent="0" algn="ctr">
              <a:buNone/>
            </a:pPr>
            <a:r>
              <a:rPr lang="en-IN" sz="4400" dirty="0">
                <a:solidFill>
                  <a:schemeClr val="tx1"/>
                </a:solidFill>
                <a:latin typeface="Times New Roman" panose="02020603050405020304" pitchFamily="18" charset="0"/>
                <a:cs typeface="Times New Roman" panose="02020603050405020304" pitchFamily="18" charset="0"/>
              </a:rPr>
              <a:t>Project Overview</a:t>
            </a:r>
            <a:endParaRPr lang="en-US" sz="4400" dirty="0">
              <a:solidFill>
                <a:schemeClr val="tx1"/>
              </a:solidFill>
              <a:latin typeface="Times New Roman" panose="02020603050405020304" pitchFamily="18" charset="0"/>
              <a:cs typeface="Times New Roman" panose="02020603050405020304" pitchFamily="18" charset="0"/>
            </a:endParaRPr>
          </a:p>
          <a:p>
            <a:endParaRPr lang="en-US" b="1" dirty="0"/>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Objective</a:t>
            </a:r>
          </a:p>
          <a:p>
            <a:pPr algn="just"/>
            <a:r>
              <a:rPr lang="en-US" dirty="0">
                <a:solidFill>
                  <a:schemeClr val="tx1"/>
                </a:solidFill>
                <a:latin typeface="Times New Roman" panose="02020603050405020304" pitchFamily="18" charset="0"/>
                <a:cs typeface="Times New Roman" panose="02020603050405020304" pitchFamily="18" charset="0"/>
              </a:rPr>
              <a:t>The objective of this project is to analyze Amazon order data and identify sales trends, customer purchasing behavior, geographic performance, fulfillment efficiency, and revenue-generating factors.</a:t>
            </a: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Dataset Details</a:t>
            </a:r>
          </a:p>
          <a:p>
            <a:pPr algn="just"/>
            <a:r>
              <a:rPr lang="en-US" dirty="0">
                <a:solidFill>
                  <a:schemeClr val="tx1"/>
                </a:solidFill>
                <a:latin typeface="Times New Roman" panose="02020603050405020304" pitchFamily="18" charset="0"/>
                <a:cs typeface="Times New Roman" panose="02020603050405020304" pitchFamily="18" charset="0"/>
              </a:rPr>
              <a:t>Total Orders: 125K</a:t>
            </a:r>
          </a:p>
          <a:p>
            <a:pPr algn="just"/>
            <a:r>
              <a:rPr lang="en-US" dirty="0">
                <a:solidFill>
                  <a:schemeClr val="tx1"/>
                </a:solidFill>
                <a:latin typeface="Times New Roman" panose="02020603050405020304" pitchFamily="18" charset="0"/>
                <a:cs typeface="Times New Roman" panose="02020603050405020304" pitchFamily="18" charset="0"/>
              </a:rPr>
              <a:t>Total Revenue: ₹77.40 Million</a:t>
            </a:r>
          </a:p>
          <a:p>
            <a:pPr algn="just"/>
            <a:r>
              <a:rPr lang="en-US" dirty="0">
                <a:solidFill>
                  <a:schemeClr val="tx1"/>
                </a:solidFill>
                <a:latin typeface="Times New Roman" panose="02020603050405020304" pitchFamily="18" charset="0"/>
                <a:cs typeface="Times New Roman" panose="02020603050405020304" pitchFamily="18" charset="0"/>
              </a:rPr>
              <a:t>Product Categories: 9</a:t>
            </a:r>
          </a:p>
          <a:p>
            <a:pPr algn="just"/>
            <a:r>
              <a:rPr lang="en-US" dirty="0">
                <a:solidFill>
                  <a:schemeClr val="tx1"/>
                </a:solidFill>
                <a:latin typeface="Times New Roman" panose="02020603050405020304" pitchFamily="18" charset="0"/>
                <a:cs typeface="Times New Roman" panose="02020603050405020304" pitchFamily="18" charset="0"/>
              </a:rPr>
              <a:t>States Covered: 47</a:t>
            </a:r>
          </a:p>
          <a:p>
            <a:pPr algn="just"/>
            <a:r>
              <a:rPr lang="en-US" dirty="0">
                <a:solidFill>
                  <a:schemeClr val="tx1"/>
                </a:solidFill>
                <a:latin typeface="Times New Roman" panose="02020603050405020304" pitchFamily="18" charset="0"/>
                <a:cs typeface="Times New Roman" panose="02020603050405020304" pitchFamily="18" charset="0"/>
              </a:rPr>
              <a:t>Product Sizes: 11</a:t>
            </a:r>
          </a:p>
          <a:p>
            <a:endParaRPr lang="en-IN" dirty="0"/>
          </a:p>
        </p:txBody>
      </p:sp>
    </p:spTree>
    <p:extLst>
      <p:ext uri="{BB962C8B-B14F-4D97-AF65-F5344CB8AC3E}">
        <p14:creationId xmlns:p14="http://schemas.microsoft.com/office/powerpoint/2010/main" val="86812034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010322-C66C-4477-A362-FD0327543C98}"/>
              </a:ext>
            </a:extLst>
          </p:cNvPr>
          <p:cNvSpPr>
            <a:spLocks noGrp="1"/>
          </p:cNvSpPr>
          <p:nvPr>
            <p:ph idx="1"/>
          </p:nvPr>
        </p:nvSpPr>
        <p:spPr>
          <a:xfrm>
            <a:off x="684212" y="685800"/>
            <a:ext cx="10163082" cy="5741894"/>
          </a:xfrm>
        </p:spPr>
        <p:txBody>
          <a:bodyPr>
            <a:normAutofit/>
          </a:bodyPr>
          <a:lstStyle/>
          <a:p>
            <a:pPr marL="0" indent="0" algn="ctr">
              <a:buNone/>
            </a:pPr>
            <a:r>
              <a:rPr lang="en-IN" sz="4400" dirty="0">
                <a:solidFill>
                  <a:schemeClr val="tx1"/>
                </a:solidFill>
                <a:latin typeface="Times New Roman" panose="02020603050405020304" pitchFamily="18" charset="0"/>
                <a:cs typeface="Times New Roman" panose="02020603050405020304" pitchFamily="18" charset="0"/>
              </a:rPr>
              <a:t>Technology Stack</a:t>
            </a:r>
          </a:p>
          <a:p>
            <a:pPr marL="0" indent="0">
              <a:buNone/>
            </a:pPr>
            <a:r>
              <a:rPr lang="en-IN" sz="2800" b="1" dirty="0">
                <a:solidFill>
                  <a:schemeClr val="tx1"/>
                </a:solidFill>
                <a:latin typeface="Times New Roman" panose="02020603050405020304" pitchFamily="18" charset="0"/>
                <a:cs typeface="Times New Roman" panose="02020603050405020304" pitchFamily="18" charset="0"/>
              </a:rPr>
              <a:t>Tools Used</a:t>
            </a:r>
            <a:endParaRPr lang="en-IN" sz="2800" dirty="0">
              <a:solidFill>
                <a:schemeClr val="tx1"/>
              </a:solidFill>
              <a:latin typeface="Times New Roman" panose="02020603050405020304" pitchFamily="18" charset="0"/>
              <a:cs typeface="Times New Roman" panose="02020603050405020304" pitchFamily="18" charset="0"/>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graphicFrame>
        <p:nvGraphicFramePr>
          <p:cNvPr id="6" name="Table 5">
            <a:extLst>
              <a:ext uri="{FF2B5EF4-FFF2-40B4-BE49-F238E27FC236}">
                <a16:creationId xmlns:a16="http://schemas.microsoft.com/office/drawing/2014/main" id="{116C7E27-EABF-4443-B933-46DA7A01DEBF}"/>
              </a:ext>
            </a:extLst>
          </p:cNvPr>
          <p:cNvGraphicFramePr>
            <a:graphicFrameLocks noGrp="1"/>
          </p:cNvGraphicFramePr>
          <p:nvPr>
            <p:extLst>
              <p:ext uri="{D42A27DB-BD31-4B8C-83A1-F6EECF244321}">
                <p14:modId xmlns:p14="http://schemas.microsoft.com/office/powerpoint/2010/main" val="3993487038"/>
              </p:ext>
            </p:extLst>
          </p:nvPr>
        </p:nvGraphicFramePr>
        <p:xfrm>
          <a:off x="2429434" y="2402540"/>
          <a:ext cx="6789178" cy="3769660"/>
        </p:xfrm>
        <a:graphic>
          <a:graphicData uri="http://schemas.openxmlformats.org/drawingml/2006/table">
            <a:tbl>
              <a:tblPr firstRow="1" lastRow="1" bandRow="1">
                <a:tableStyleId>{35758FB7-9AC5-4552-8A53-C91805E547FA}</a:tableStyleId>
              </a:tblPr>
              <a:tblGrid>
                <a:gridCol w="3394589">
                  <a:extLst>
                    <a:ext uri="{9D8B030D-6E8A-4147-A177-3AD203B41FA5}">
                      <a16:colId xmlns:a16="http://schemas.microsoft.com/office/drawing/2014/main" val="3692595086"/>
                    </a:ext>
                  </a:extLst>
                </a:gridCol>
                <a:gridCol w="3394589">
                  <a:extLst>
                    <a:ext uri="{9D8B030D-6E8A-4147-A177-3AD203B41FA5}">
                      <a16:colId xmlns:a16="http://schemas.microsoft.com/office/drawing/2014/main" val="2053347222"/>
                    </a:ext>
                  </a:extLst>
                </a:gridCol>
              </a:tblGrid>
              <a:tr h="1884830">
                <a:tc>
                  <a:txBody>
                    <a:bodyPr/>
                    <a:lstStyle/>
                    <a:p>
                      <a:r>
                        <a:rPr lang="en-IN" sz="2000" dirty="0">
                          <a:solidFill>
                            <a:srgbClr val="7030A0"/>
                          </a:solidFill>
                          <a:latin typeface="Times New Roman" panose="02020603050405020304" pitchFamily="18" charset="0"/>
                          <a:cs typeface="Times New Roman" panose="02020603050405020304" pitchFamily="18" charset="0"/>
                        </a:rPr>
                        <a:t>Python</a:t>
                      </a:r>
                    </a:p>
                    <a:p>
                      <a:r>
                        <a:rPr lang="en-IN" dirty="0">
                          <a:latin typeface="Times New Roman" panose="02020603050405020304" pitchFamily="18" charset="0"/>
                          <a:cs typeface="Times New Roman" panose="02020603050405020304" pitchFamily="18" charset="0"/>
                        </a:rPr>
                        <a:t>Data Cleaning</a:t>
                      </a:r>
                    </a:p>
                    <a:p>
                      <a:r>
                        <a:rPr lang="en-IN" dirty="0">
                          <a:latin typeface="Times New Roman" panose="02020603050405020304" pitchFamily="18" charset="0"/>
                          <a:cs typeface="Times New Roman" panose="02020603050405020304" pitchFamily="18" charset="0"/>
                        </a:rPr>
                        <a:t>Data </a:t>
                      </a:r>
                      <a:r>
                        <a:rPr lang="en-IN" dirty="0" err="1">
                          <a:latin typeface="Times New Roman" panose="02020603050405020304" pitchFamily="18" charset="0"/>
                          <a:cs typeface="Times New Roman" panose="02020603050405020304" pitchFamily="18" charset="0"/>
                        </a:rPr>
                        <a:t>Preprocessing</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Exploratory Data Analysis</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sz="2000" dirty="0">
                          <a:solidFill>
                            <a:srgbClr val="7030A0"/>
                          </a:solidFill>
                          <a:latin typeface="Times New Roman" panose="02020603050405020304" pitchFamily="18" charset="0"/>
                          <a:cs typeface="Times New Roman" panose="02020603050405020304" pitchFamily="18" charset="0"/>
                        </a:rPr>
                        <a:t>SQL</a:t>
                      </a:r>
                    </a:p>
                    <a:p>
                      <a:r>
                        <a:rPr lang="en-IN" dirty="0">
                          <a:latin typeface="Times New Roman" panose="02020603050405020304" pitchFamily="18" charset="0"/>
                          <a:cs typeface="Times New Roman" panose="02020603050405020304" pitchFamily="18" charset="0"/>
                        </a:rPr>
                        <a:t>Revenue Analysis</a:t>
                      </a:r>
                    </a:p>
                    <a:p>
                      <a:r>
                        <a:rPr lang="en-IN" dirty="0">
                          <a:latin typeface="Times New Roman" panose="02020603050405020304" pitchFamily="18" charset="0"/>
                          <a:cs typeface="Times New Roman" panose="02020603050405020304" pitchFamily="18" charset="0"/>
                        </a:rPr>
                        <a:t>Aggregation Queries</a:t>
                      </a:r>
                    </a:p>
                    <a:p>
                      <a:r>
                        <a:rPr lang="en-IN" dirty="0">
                          <a:latin typeface="Times New Roman" panose="02020603050405020304" pitchFamily="18" charset="0"/>
                          <a:cs typeface="Times New Roman" panose="02020603050405020304" pitchFamily="18" charset="0"/>
                        </a:rPr>
                        <a:t>Business Insights</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36981243"/>
                  </a:ext>
                </a:extLst>
              </a:tr>
              <a:tr h="1884830">
                <a:tc>
                  <a:txBody>
                    <a:bodyPr/>
                    <a:lstStyle/>
                    <a:p>
                      <a:r>
                        <a:rPr lang="en-IN" sz="2000" dirty="0">
                          <a:solidFill>
                            <a:srgbClr val="00B0F0"/>
                          </a:solidFill>
                          <a:latin typeface="Times New Roman" panose="02020603050405020304" pitchFamily="18" charset="0"/>
                          <a:cs typeface="Times New Roman" panose="02020603050405020304" pitchFamily="18" charset="0"/>
                        </a:rPr>
                        <a:t>Excel</a:t>
                      </a:r>
                    </a:p>
                    <a:p>
                      <a:r>
                        <a:rPr lang="en-IN" dirty="0">
                          <a:latin typeface="Times New Roman" panose="02020603050405020304" pitchFamily="18" charset="0"/>
                          <a:cs typeface="Times New Roman" panose="02020603050405020304" pitchFamily="18" charset="0"/>
                        </a:rPr>
                        <a:t>Pivot Tables</a:t>
                      </a:r>
                    </a:p>
                    <a:p>
                      <a:r>
                        <a:rPr lang="en-IN" dirty="0">
                          <a:latin typeface="Times New Roman" panose="02020603050405020304" pitchFamily="18" charset="0"/>
                          <a:cs typeface="Times New Roman" panose="02020603050405020304" pitchFamily="18" charset="0"/>
                        </a:rPr>
                        <a:t>Charts</a:t>
                      </a:r>
                    </a:p>
                    <a:p>
                      <a:r>
                        <a:rPr lang="en-IN" dirty="0">
                          <a:latin typeface="Times New Roman" panose="02020603050405020304" pitchFamily="18" charset="0"/>
                          <a:cs typeface="Times New Roman" panose="02020603050405020304" pitchFamily="18" charset="0"/>
                        </a:rPr>
                        <a:t>Initial Exploration</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sz="2000" dirty="0">
                          <a:solidFill>
                            <a:srgbClr val="00B0F0"/>
                          </a:solidFill>
                          <a:latin typeface="Times New Roman" panose="02020603050405020304" pitchFamily="18" charset="0"/>
                          <a:cs typeface="Times New Roman" panose="02020603050405020304" pitchFamily="18" charset="0"/>
                        </a:rPr>
                        <a:t>Power BI</a:t>
                      </a:r>
                    </a:p>
                    <a:p>
                      <a:r>
                        <a:rPr lang="en-IN" dirty="0">
                          <a:latin typeface="Times New Roman" panose="02020603050405020304" pitchFamily="18" charset="0"/>
                          <a:cs typeface="Times New Roman" panose="02020603050405020304" pitchFamily="18" charset="0"/>
                        </a:rPr>
                        <a:t>Interactive Dashboard</a:t>
                      </a:r>
                    </a:p>
                    <a:p>
                      <a:r>
                        <a:rPr lang="en-IN" dirty="0">
                          <a:latin typeface="Times New Roman" panose="02020603050405020304" pitchFamily="18" charset="0"/>
                          <a:cs typeface="Times New Roman" panose="02020603050405020304" pitchFamily="18" charset="0"/>
                        </a:rPr>
                        <a:t>KPI Monitoring</a:t>
                      </a:r>
                    </a:p>
                    <a:p>
                      <a:r>
                        <a:rPr lang="en-IN" dirty="0">
                          <a:latin typeface="Times New Roman" panose="02020603050405020304" pitchFamily="18" charset="0"/>
                          <a:cs typeface="Times New Roman" panose="02020603050405020304" pitchFamily="18" charset="0"/>
                        </a:rPr>
                        <a:t>Business Reporting</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34679934"/>
                  </a:ext>
                </a:extLst>
              </a:tr>
            </a:tbl>
          </a:graphicData>
        </a:graphic>
      </p:graphicFrame>
    </p:spTree>
    <p:extLst>
      <p:ext uri="{BB962C8B-B14F-4D97-AF65-F5344CB8AC3E}">
        <p14:creationId xmlns:p14="http://schemas.microsoft.com/office/powerpoint/2010/main" val="2504681804"/>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B3D5-C292-4742-BA74-633062F59B42}"/>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Data Cleaning Process</a:t>
            </a:r>
          </a:p>
        </p:txBody>
      </p:sp>
      <p:sp>
        <p:nvSpPr>
          <p:cNvPr id="3" name="Content Placeholder 2">
            <a:extLst>
              <a:ext uri="{FF2B5EF4-FFF2-40B4-BE49-F238E27FC236}">
                <a16:creationId xmlns:a16="http://schemas.microsoft.com/office/drawing/2014/main" id="{C8F77E7D-7E00-4196-A4C9-60F1399BB666}"/>
              </a:ext>
            </a:extLst>
          </p:cNvPr>
          <p:cNvSpPr>
            <a:spLocks noGrp="1"/>
          </p:cNvSpPr>
          <p:nvPr>
            <p:ph sz="half" idx="1"/>
          </p:nvPr>
        </p:nvSpPr>
        <p:spPr>
          <a:xfrm>
            <a:off x="1326776" y="2133600"/>
            <a:ext cx="5576300" cy="4100290"/>
          </a:xfrm>
        </p:spPr>
        <p:txBody>
          <a:bodyPr>
            <a:normAutofit fontScale="92500" lnSpcReduction="10000"/>
          </a:bodyPr>
          <a:lstStyle/>
          <a:p>
            <a:pPr marL="0" indent="0">
              <a:buNone/>
            </a:pPr>
            <a:r>
              <a:rPr lang="en-IN" sz="2600" b="1" dirty="0">
                <a:latin typeface="Times New Roman" panose="02020603050405020304" pitchFamily="18" charset="0"/>
                <a:cs typeface="Times New Roman" panose="02020603050405020304" pitchFamily="18" charset="0"/>
              </a:rPr>
              <a:t>Data Preparation Steps</a:t>
            </a:r>
          </a:p>
          <a:p>
            <a:pPr marL="0" indent="0">
              <a:buNone/>
            </a:pPr>
            <a:r>
              <a:rPr lang="en-IN" sz="2400" dirty="0">
                <a:latin typeface="Times New Roman" panose="02020603050405020304" pitchFamily="18" charset="0"/>
                <a:cs typeface="Times New Roman" panose="02020603050405020304" pitchFamily="18" charset="0"/>
              </a:rPr>
              <a:t>✔ Removed unnecessary columns</a:t>
            </a:r>
          </a:p>
          <a:p>
            <a:pPr marL="0" indent="0">
              <a:buNone/>
            </a:pPr>
            <a:r>
              <a:rPr lang="en-IN" sz="2400" dirty="0">
                <a:latin typeface="Times New Roman" panose="02020603050405020304" pitchFamily="18" charset="0"/>
                <a:cs typeface="Times New Roman" panose="02020603050405020304" pitchFamily="18" charset="0"/>
              </a:rPr>
              <a:t>✔ Handled missing values</a:t>
            </a:r>
          </a:p>
          <a:p>
            <a:pPr marL="0" indent="0">
              <a:buNone/>
            </a:pPr>
            <a:r>
              <a:rPr lang="en-IN" sz="2400" dirty="0">
                <a:latin typeface="Times New Roman" panose="02020603050405020304" pitchFamily="18" charset="0"/>
                <a:cs typeface="Times New Roman" panose="02020603050405020304" pitchFamily="18" charset="0"/>
              </a:rPr>
              <a:t>✔ Removed duplicate records</a:t>
            </a:r>
          </a:p>
          <a:p>
            <a:pPr marL="0" indent="0">
              <a:buNone/>
            </a:pPr>
            <a:r>
              <a:rPr lang="en-IN" sz="2400" dirty="0">
                <a:latin typeface="Times New Roman" panose="02020603050405020304" pitchFamily="18" charset="0"/>
                <a:cs typeface="Times New Roman" panose="02020603050405020304" pitchFamily="18" charset="0"/>
              </a:rPr>
              <a:t>✔ Standardized categorical data</a:t>
            </a:r>
          </a:p>
          <a:p>
            <a:pPr marL="0" indent="0">
              <a:buNone/>
            </a:pPr>
            <a:r>
              <a:rPr lang="en-IN" sz="2400" dirty="0">
                <a:latin typeface="Times New Roman" panose="02020603050405020304" pitchFamily="18" charset="0"/>
                <a:cs typeface="Times New Roman" panose="02020603050405020304" pitchFamily="18" charset="0"/>
              </a:rPr>
              <a:t>✔ Converted date formats</a:t>
            </a:r>
          </a:p>
          <a:p>
            <a:pPr marL="0" indent="0">
              <a:buNone/>
            </a:pPr>
            <a:r>
              <a:rPr lang="en-IN" sz="2400" dirty="0">
                <a:latin typeface="Times New Roman" panose="02020603050405020304" pitchFamily="18" charset="0"/>
                <a:cs typeface="Times New Roman" panose="02020603050405020304" pitchFamily="18" charset="0"/>
              </a:rPr>
              <a:t>✔ Created Month, Year, and Day columns</a:t>
            </a:r>
          </a:p>
          <a:p>
            <a:pPr marL="0" indent="0">
              <a:buNone/>
            </a:pPr>
            <a:r>
              <a:rPr lang="en-IN" sz="2400" dirty="0">
                <a:latin typeface="Times New Roman" panose="02020603050405020304" pitchFamily="18" charset="0"/>
                <a:cs typeface="Times New Roman" panose="02020603050405020304" pitchFamily="18" charset="0"/>
              </a:rPr>
              <a:t>✔ Treated revenue outliers using IQR method</a:t>
            </a:r>
          </a:p>
          <a:p>
            <a:endParaRPr lang="en-IN"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7F5BC746-E501-4BD3-9DB0-0F506A6388EB}"/>
              </a:ext>
            </a:extLst>
          </p:cNvPr>
          <p:cNvSpPr>
            <a:spLocks noGrp="1"/>
          </p:cNvSpPr>
          <p:nvPr>
            <p:ph sz="half" idx="2"/>
          </p:nvPr>
        </p:nvSpPr>
        <p:spPr>
          <a:xfrm>
            <a:off x="7055223" y="2088319"/>
            <a:ext cx="4212333" cy="3702881"/>
          </a:xfrm>
        </p:spPr>
        <p:txBody>
          <a:bodyPr>
            <a:normAutofit fontScale="92500" lnSpcReduction="10000"/>
          </a:bodyPr>
          <a:lstStyle/>
          <a:p>
            <a:pPr marL="0" indent="0">
              <a:buNone/>
            </a:pPr>
            <a:r>
              <a:rPr lang="en-US" sz="2600" b="1" dirty="0">
                <a:latin typeface="Times New Roman" panose="02020603050405020304" pitchFamily="18" charset="0"/>
                <a:cs typeface="Times New Roman" panose="02020603050405020304" pitchFamily="18" charset="0"/>
              </a:rPr>
              <a:t>Data Cleaning Workflow</a:t>
            </a:r>
          </a:p>
          <a:p>
            <a:endParaRPr lang="en-US" b="1" dirty="0"/>
          </a:p>
          <a:p>
            <a:pPr marL="0" indent="0" algn="ctr">
              <a:buNone/>
            </a:pPr>
            <a:r>
              <a:rPr lang="en-US" sz="2200" dirty="0">
                <a:latin typeface="Times New Roman" panose="02020603050405020304" pitchFamily="18" charset="0"/>
                <a:cs typeface="Times New Roman" panose="02020603050405020304" pitchFamily="18" charset="0"/>
              </a:rPr>
              <a:t>Raw Data</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Cleaning</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Transformation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EDA</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Dashboard Development</a:t>
            </a:r>
          </a:p>
          <a:p>
            <a:endParaRPr lang="en-IN" dirty="0"/>
          </a:p>
        </p:txBody>
      </p:sp>
    </p:spTree>
    <p:extLst>
      <p:ext uri="{BB962C8B-B14F-4D97-AF65-F5344CB8AC3E}">
        <p14:creationId xmlns:p14="http://schemas.microsoft.com/office/powerpoint/2010/main" val="312741314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877A-F8D9-4A2C-ACB2-963C498E1659}"/>
              </a:ext>
            </a:extLst>
          </p:cNvPr>
          <p:cNvSpPr>
            <a:spLocks noGrp="1"/>
          </p:cNvSpPr>
          <p:nvPr>
            <p:ph type="title"/>
          </p:nvPr>
        </p:nvSpPr>
        <p:spPr>
          <a:xfrm>
            <a:off x="646111" y="452718"/>
            <a:ext cx="10246007" cy="956545"/>
          </a:xfrm>
        </p:spPr>
        <p:txBody>
          <a:bodyPr/>
          <a:lstStyle/>
          <a:p>
            <a:pPr algn="ctr"/>
            <a:r>
              <a:rPr lang="en-IN" sz="4400" dirty="0">
                <a:latin typeface="Times New Roman" panose="02020603050405020304" pitchFamily="18" charset="0"/>
                <a:cs typeface="Times New Roman" panose="02020603050405020304" pitchFamily="18" charset="0"/>
              </a:rPr>
              <a:t>Key KPIs</a:t>
            </a:r>
          </a:p>
        </p:txBody>
      </p:sp>
      <p:sp>
        <p:nvSpPr>
          <p:cNvPr id="3" name="Content Placeholder 2">
            <a:extLst>
              <a:ext uri="{FF2B5EF4-FFF2-40B4-BE49-F238E27FC236}">
                <a16:creationId xmlns:a16="http://schemas.microsoft.com/office/drawing/2014/main" id="{CB2B998C-16F0-476D-B2BE-D03560920444}"/>
              </a:ext>
            </a:extLst>
          </p:cNvPr>
          <p:cNvSpPr>
            <a:spLocks noGrp="1"/>
          </p:cNvSpPr>
          <p:nvPr>
            <p:ph idx="1"/>
          </p:nvPr>
        </p:nvSpPr>
        <p:spPr>
          <a:xfrm>
            <a:off x="1147482" y="1409263"/>
            <a:ext cx="10357130" cy="4713630"/>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Dashboard Summary</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Total Orders: 125K</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Total Revenue: ₹77.40 Million</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Average Order Value: ₹620.26</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Total Categories: 9</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Total States: 47</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Total Sizes: 11</a:t>
            </a:r>
          </a:p>
          <a:p>
            <a:pPr marL="0" indent="0" algn="just">
              <a:buNone/>
            </a:pPr>
            <a:r>
              <a:rPr lang="en-US" sz="2400" b="1" dirty="0">
                <a:latin typeface="Times New Roman" panose="02020603050405020304" pitchFamily="18" charset="0"/>
                <a:cs typeface="Times New Roman" panose="02020603050405020304" pitchFamily="18" charset="0"/>
              </a:rPr>
              <a:t>Business Observation</a:t>
            </a:r>
          </a:p>
          <a:p>
            <a:pPr marL="0" indent="0" algn="just">
              <a:buNone/>
            </a:pPr>
            <a:r>
              <a:rPr lang="en-US" dirty="0">
                <a:latin typeface="Times New Roman" panose="02020603050405020304" pitchFamily="18" charset="0"/>
                <a:cs typeface="Times New Roman" panose="02020603050405020304" pitchFamily="18" charset="0"/>
              </a:rPr>
              <a:t>The business processed a large volume of orders while maintaining strong revenue performance across multiple product categories and regions.</a:t>
            </a:r>
          </a:p>
          <a:p>
            <a:pPr algn="just"/>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7DAD7EE-48A0-4BC1-99A4-35A90E19CD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9698" y="1409263"/>
            <a:ext cx="6053791" cy="3595490"/>
          </a:xfrm>
          <a:prstGeom prst="rect">
            <a:avLst/>
          </a:prstGeom>
        </p:spPr>
      </p:pic>
    </p:spTree>
    <p:extLst>
      <p:ext uri="{BB962C8B-B14F-4D97-AF65-F5344CB8AC3E}">
        <p14:creationId xmlns:p14="http://schemas.microsoft.com/office/powerpoint/2010/main" val="829317254"/>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35011-B1AD-49B8-A363-35D6285DDCF2}"/>
              </a:ext>
            </a:extLst>
          </p:cNvPr>
          <p:cNvSpPr>
            <a:spLocks noGrp="1"/>
          </p:cNvSpPr>
          <p:nvPr>
            <p:ph type="title"/>
          </p:nvPr>
        </p:nvSpPr>
        <p:spPr>
          <a:xfrm>
            <a:off x="646111" y="259977"/>
            <a:ext cx="9404723" cy="1004048"/>
          </a:xfrm>
        </p:spPr>
        <p:txBody>
          <a:bodyPr/>
          <a:lstStyle/>
          <a:p>
            <a:pPr algn="ctr"/>
            <a:r>
              <a:rPr lang="en-IN" sz="4400" dirty="0">
                <a:latin typeface="Times New Roman" panose="02020603050405020304" pitchFamily="18" charset="0"/>
                <a:cs typeface="Times New Roman" panose="02020603050405020304" pitchFamily="18" charset="0"/>
              </a:rPr>
              <a:t>Product Category Analysis</a:t>
            </a:r>
          </a:p>
        </p:txBody>
      </p:sp>
      <p:sp>
        <p:nvSpPr>
          <p:cNvPr id="3" name="Content Placeholder 2">
            <a:extLst>
              <a:ext uri="{FF2B5EF4-FFF2-40B4-BE49-F238E27FC236}">
                <a16:creationId xmlns:a16="http://schemas.microsoft.com/office/drawing/2014/main" id="{2E7699CD-4E79-4358-85FB-7E18CF4017BE}"/>
              </a:ext>
            </a:extLst>
          </p:cNvPr>
          <p:cNvSpPr>
            <a:spLocks noGrp="1"/>
          </p:cNvSpPr>
          <p:nvPr>
            <p:ph idx="1"/>
          </p:nvPr>
        </p:nvSpPr>
        <p:spPr>
          <a:xfrm>
            <a:off x="403411" y="1264025"/>
            <a:ext cx="11142477" cy="4984375"/>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Top Categories by Orders</a:t>
            </a:r>
          </a:p>
          <a:p>
            <a:r>
              <a:rPr lang="en-US" dirty="0">
                <a:latin typeface="Times New Roman" panose="02020603050405020304" pitchFamily="18" charset="0"/>
                <a:cs typeface="Times New Roman" panose="02020603050405020304" pitchFamily="18" charset="0"/>
              </a:rPr>
              <a:t>Kurta</a:t>
            </a:r>
          </a:p>
          <a:p>
            <a:r>
              <a:rPr lang="en-US" dirty="0">
                <a:latin typeface="Times New Roman" panose="02020603050405020304" pitchFamily="18" charset="0"/>
                <a:cs typeface="Times New Roman" panose="02020603050405020304" pitchFamily="18" charset="0"/>
              </a:rPr>
              <a:t>Set</a:t>
            </a:r>
          </a:p>
          <a:p>
            <a:r>
              <a:rPr lang="en-US" dirty="0">
                <a:latin typeface="Times New Roman" panose="02020603050405020304" pitchFamily="18" charset="0"/>
                <a:cs typeface="Times New Roman" panose="02020603050405020304" pitchFamily="18" charset="0"/>
              </a:rPr>
              <a:t>Western Dress</a:t>
            </a:r>
          </a:p>
          <a:p>
            <a:r>
              <a:rPr lang="en-US" dirty="0">
                <a:latin typeface="Times New Roman" panose="02020603050405020304" pitchFamily="18" charset="0"/>
                <a:cs typeface="Times New Roman" panose="02020603050405020304" pitchFamily="18" charset="0"/>
              </a:rPr>
              <a:t>Top</a:t>
            </a:r>
          </a:p>
          <a:p>
            <a:pPr marL="0" indent="0">
              <a:buNone/>
            </a:pPr>
            <a:r>
              <a:rPr lang="en-US" b="1" dirty="0">
                <a:latin typeface="Times New Roman" panose="02020603050405020304" pitchFamily="18" charset="0"/>
                <a:cs typeface="Times New Roman" panose="02020603050405020304" pitchFamily="18" charset="0"/>
              </a:rPr>
              <a:t>Top Revenue Categories</a:t>
            </a:r>
          </a:p>
          <a:p>
            <a:r>
              <a:rPr lang="en-US" dirty="0">
                <a:latin typeface="Times New Roman" panose="02020603050405020304" pitchFamily="18" charset="0"/>
                <a:cs typeface="Times New Roman" panose="02020603050405020304" pitchFamily="18" charset="0"/>
              </a:rPr>
              <a:t>Set</a:t>
            </a:r>
          </a:p>
          <a:p>
            <a:r>
              <a:rPr lang="en-US" dirty="0">
                <a:latin typeface="Times New Roman" panose="02020603050405020304" pitchFamily="18" charset="0"/>
                <a:cs typeface="Times New Roman" panose="02020603050405020304" pitchFamily="18" charset="0"/>
              </a:rPr>
              <a:t>Kurta</a:t>
            </a:r>
          </a:p>
          <a:p>
            <a:r>
              <a:rPr lang="en-US" dirty="0">
                <a:latin typeface="Times New Roman" panose="02020603050405020304" pitchFamily="18" charset="0"/>
                <a:cs typeface="Times New Roman" panose="02020603050405020304" pitchFamily="18" charset="0"/>
              </a:rPr>
              <a:t>Western Dress</a:t>
            </a:r>
          </a:p>
          <a:p>
            <a:r>
              <a:rPr lang="en-US" dirty="0">
                <a:latin typeface="Times New Roman" panose="02020603050405020304" pitchFamily="18" charset="0"/>
                <a:cs typeface="Times New Roman" panose="02020603050405020304" pitchFamily="18" charset="0"/>
              </a:rPr>
              <a:t>Top</a:t>
            </a:r>
          </a:p>
          <a:p>
            <a:pPr marL="0" indent="0">
              <a:buNone/>
            </a:pPr>
            <a:r>
              <a:rPr lang="en-US" b="1" dirty="0">
                <a:latin typeface="Times New Roman" panose="02020603050405020304" pitchFamily="18" charset="0"/>
                <a:cs typeface="Times New Roman" panose="02020603050405020304" pitchFamily="18" charset="0"/>
              </a:rPr>
              <a:t>Insight</a:t>
            </a:r>
          </a:p>
          <a:p>
            <a:r>
              <a:rPr lang="en-US" dirty="0">
                <a:latin typeface="Times New Roman" panose="02020603050405020304" pitchFamily="18" charset="0"/>
                <a:cs typeface="Times New Roman" panose="02020603050405020304" pitchFamily="18" charset="0"/>
              </a:rPr>
              <a:t>Set products generated the highest revenue, while Kurta products achieved the highest order volume.</a:t>
            </a:r>
          </a:p>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D661956-FE63-40C9-B546-FE3B118B3F99}"/>
              </a:ext>
            </a:extLst>
          </p:cNvPr>
          <p:cNvPicPr>
            <a:picLocks noChangeAspect="1"/>
          </p:cNvPicPr>
          <p:nvPr/>
        </p:nvPicPr>
        <p:blipFill>
          <a:blip r:embed="rId2"/>
          <a:stretch>
            <a:fillRect/>
          </a:stretch>
        </p:blipFill>
        <p:spPr>
          <a:xfrm>
            <a:off x="3985466" y="1500528"/>
            <a:ext cx="7219886" cy="3600389"/>
          </a:xfrm>
          <a:prstGeom prst="rect">
            <a:avLst/>
          </a:prstGeom>
        </p:spPr>
      </p:pic>
    </p:spTree>
    <p:extLst>
      <p:ext uri="{BB962C8B-B14F-4D97-AF65-F5344CB8AC3E}">
        <p14:creationId xmlns:p14="http://schemas.microsoft.com/office/powerpoint/2010/main" val="81289295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2BDBE-DD69-40D8-BC86-5FA714246408}"/>
              </a:ext>
            </a:extLst>
          </p:cNvPr>
          <p:cNvSpPr>
            <a:spLocks noGrp="1"/>
          </p:cNvSpPr>
          <p:nvPr>
            <p:ph type="title"/>
          </p:nvPr>
        </p:nvSpPr>
        <p:spPr>
          <a:xfrm>
            <a:off x="646111" y="259976"/>
            <a:ext cx="9404723" cy="842683"/>
          </a:xfrm>
        </p:spPr>
        <p:txBody>
          <a:bodyPr/>
          <a:lstStyle/>
          <a:p>
            <a:pPr algn="ctr"/>
            <a:r>
              <a:rPr lang="en-IN" sz="4400" dirty="0">
                <a:latin typeface="Times New Roman" panose="02020603050405020304" pitchFamily="18" charset="0"/>
                <a:cs typeface="Times New Roman" panose="02020603050405020304" pitchFamily="18" charset="0"/>
              </a:rPr>
              <a:t>Geographic Analysis</a:t>
            </a:r>
          </a:p>
        </p:txBody>
      </p:sp>
      <p:sp>
        <p:nvSpPr>
          <p:cNvPr id="3" name="Content Placeholder 2">
            <a:extLst>
              <a:ext uri="{FF2B5EF4-FFF2-40B4-BE49-F238E27FC236}">
                <a16:creationId xmlns:a16="http://schemas.microsoft.com/office/drawing/2014/main" id="{B5FE5160-3D75-462A-A7C4-D9EC1DA71B15}"/>
              </a:ext>
            </a:extLst>
          </p:cNvPr>
          <p:cNvSpPr>
            <a:spLocks noGrp="1"/>
          </p:cNvSpPr>
          <p:nvPr>
            <p:ph idx="1"/>
          </p:nvPr>
        </p:nvSpPr>
        <p:spPr>
          <a:xfrm>
            <a:off x="833718" y="1165412"/>
            <a:ext cx="10488706" cy="5432612"/>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Top States</a:t>
            </a:r>
          </a:p>
          <a:p>
            <a:r>
              <a:rPr lang="en-IN" dirty="0">
                <a:latin typeface="Times New Roman" panose="02020603050405020304" pitchFamily="18" charset="0"/>
                <a:cs typeface="Times New Roman" panose="02020603050405020304" pitchFamily="18" charset="0"/>
              </a:rPr>
              <a:t>Maharashtra</a:t>
            </a:r>
          </a:p>
          <a:p>
            <a:r>
              <a:rPr lang="en-IN" dirty="0">
                <a:latin typeface="Times New Roman" panose="02020603050405020304" pitchFamily="18" charset="0"/>
                <a:cs typeface="Times New Roman" panose="02020603050405020304" pitchFamily="18" charset="0"/>
              </a:rPr>
              <a:t>Karnataka</a:t>
            </a:r>
          </a:p>
          <a:p>
            <a:r>
              <a:rPr lang="en-IN" dirty="0">
                <a:latin typeface="Times New Roman" panose="02020603050405020304" pitchFamily="18" charset="0"/>
                <a:cs typeface="Times New Roman" panose="02020603050405020304" pitchFamily="18" charset="0"/>
              </a:rPr>
              <a:t>Tamil Nadu</a:t>
            </a:r>
          </a:p>
          <a:p>
            <a:r>
              <a:rPr lang="en-IN" dirty="0">
                <a:latin typeface="Times New Roman" panose="02020603050405020304" pitchFamily="18" charset="0"/>
                <a:cs typeface="Times New Roman" panose="02020603050405020304" pitchFamily="18" charset="0"/>
              </a:rPr>
              <a:t>Telangana</a:t>
            </a:r>
          </a:p>
          <a:p>
            <a:pPr marL="0" indent="0">
              <a:buNone/>
            </a:pPr>
            <a:r>
              <a:rPr lang="en-IN" sz="2400" b="1" dirty="0">
                <a:latin typeface="Times New Roman" panose="02020603050405020304" pitchFamily="18" charset="0"/>
                <a:cs typeface="Times New Roman" panose="02020603050405020304" pitchFamily="18" charset="0"/>
              </a:rPr>
              <a:t>Top Cities</a:t>
            </a:r>
          </a:p>
          <a:p>
            <a:r>
              <a:rPr lang="en-IN" dirty="0">
                <a:latin typeface="Times New Roman" panose="02020603050405020304" pitchFamily="18" charset="0"/>
                <a:cs typeface="Times New Roman" panose="02020603050405020304" pitchFamily="18" charset="0"/>
              </a:rPr>
              <a:t>Bengaluru</a:t>
            </a:r>
          </a:p>
          <a:p>
            <a:r>
              <a:rPr lang="en-IN" dirty="0">
                <a:latin typeface="Times New Roman" panose="02020603050405020304" pitchFamily="18" charset="0"/>
                <a:cs typeface="Times New Roman" panose="02020603050405020304" pitchFamily="18" charset="0"/>
              </a:rPr>
              <a:t>Hyderabad</a:t>
            </a:r>
          </a:p>
          <a:p>
            <a:r>
              <a:rPr lang="en-IN" dirty="0">
                <a:latin typeface="Times New Roman" panose="02020603050405020304" pitchFamily="18" charset="0"/>
                <a:cs typeface="Times New Roman" panose="02020603050405020304" pitchFamily="18" charset="0"/>
              </a:rPr>
              <a:t>Mumbai</a:t>
            </a:r>
          </a:p>
          <a:p>
            <a:r>
              <a:rPr lang="en-IN" dirty="0">
                <a:latin typeface="Times New Roman" panose="02020603050405020304" pitchFamily="18" charset="0"/>
                <a:cs typeface="Times New Roman" panose="02020603050405020304" pitchFamily="18" charset="0"/>
              </a:rPr>
              <a:t>Chennai</a:t>
            </a:r>
          </a:p>
          <a:p>
            <a:pPr marL="0" indent="0">
              <a:buNone/>
            </a:pPr>
            <a:r>
              <a:rPr lang="en-IN" b="1" dirty="0">
                <a:latin typeface="Times New Roman" panose="02020603050405020304" pitchFamily="18" charset="0"/>
                <a:cs typeface="Times New Roman" panose="02020603050405020304" pitchFamily="18" charset="0"/>
              </a:rPr>
              <a:t>Insight</a:t>
            </a:r>
          </a:p>
          <a:p>
            <a:r>
              <a:rPr lang="en-IN" dirty="0">
                <a:latin typeface="Times New Roman" panose="02020603050405020304" pitchFamily="18" charset="0"/>
                <a:cs typeface="Times New Roman" panose="02020603050405020304" pitchFamily="18" charset="0"/>
              </a:rPr>
              <a:t>Sales are concentrated in major metropolitan cities and economically strong states.</a:t>
            </a:r>
          </a:p>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720E8C5-A805-4627-9A4F-05FDFCCC751E}"/>
              </a:ext>
            </a:extLst>
          </p:cNvPr>
          <p:cNvPicPr>
            <a:picLocks noChangeAspect="1"/>
          </p:cNvPicPr>
          <p:nvPr/>
        </p:nvPicPr>
        <p:blipFill>
          <a:blip r:embed="rId2"/>
          <a:stretch>
            <a:fillRect/>
          </a:stretch>
        </p:blipFill>
        <p:spPr>
          <a:xfrm>
            <a:off x="5497886" y="1165412"/>
            <a:ext cx="4183996" cy="4634753"/>
          </a:xfrm>
          <a:prstGeom prst="rect">
            <a:avLst/>
          </a:prstGeom>
        </p:spPr>
      </p:pic>
    </p:spTree>
    <p:extLst>
      <p:ext uri="{BB962C8B-B14F-4D97-AF65-F5344CB8AC3E}">
        <p14:creationId xmlns:p14="http://schemas.microsoft.com/office/powerpoint/2010/main" val="119409867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586B6-20E5-4F8E-9E50-EBC484F87EF0}"/>
              </a:ext>
            </a:extLst>
          </p:cNvPr>
          <p:cNvSpPr>
            <a:spLocks noGrp="1"/>
          </p:cNvSpPr>
          <p:nvPr>
            <p:ph type="title"/>
          </p:nvPr>
        </p:nvSpPr>
        <p:spPr>
          <a:xfrm>
            <a:off x="646111" y="452718"/>
            <a:ext cx="9404723" cy="909917"/>
          </a:xfrm>
        </p:spPr>
        <p:txBody>
          <a:bodyPr/>
          <a:lstStyle/>
          <a:p>
            <a:pPr algn="ctr"/>
            <a:r>
              <a:rPr lang="en-IN" sz="4400" dirty="0">
                <a:latin typeface="Times New Roman" panose="02020603050405020304" pitchFamily="18" charset="0"/>
                <a:cs typeface="Times New Roman" panose="02020603050405020304" pitchFamily="18" charset="0"/>
              </a:rPr>
              <a:t>Revenue Trend Analysis</a:t>
            </a:r>
          </a:p>
        </p:txBody>
      </p:sp>
      <p:sp>
        <p:nvSpPr>
          <p:cNvPr id="3" name="Content Placeholder 2">
            <a:extLst>
              <a:ext uri="{FF2B5EF4-FFF2-40B4-BE49-F238E27FC236}">
                <a16:creationId xmlns:a16="http://schemas.microsoft.com/office/drawing/2014/main" id="{0BAF3737-C0F5-4FC9-B08E-641C00876E24}"/>
              </a:ext>
            </a:extLst>
          </p:cNvPr>
          <p:cNvSpPr>
            <a:spLocks noGrp="1"/>
          </p:cNvSpPr>
          <p:nvPr>
            <p:ph idx="1"/>
          </p:nvPr>
        </p:nvSpPr>
        <p:spPr>
          <a:xfrm>
            <a:off x="1103312" y="1559860"/>
            <a:ext cx="10317723" cy="4688540"/>
          </a:xfrm>
        </p:spPr>
        <p:txBody>
          <a:bodyPr/>
          <a:lstStyle/>
          <a:p>
            <a:pPr marL="0" indent="0">
              <a:buNone/>
            </a:pPr>
            <a:r>
              <a:rPr lang="en-US" sz="2400" b="1" dirty="0">
                <a:latin typeface="Times New Roman" panose="02020603050405020304" pitchFamily="18" charset="0"/>
                <a:cs typeface="Times New Roman" panose="02020603050405020304" pitchFamily="18" charset="0"/>
              </a:rPr>
              <a:t>Monthly Orders Trend</a:t>
            </a:r>
          </a:p>
          <a:p>
            <a:r>
              <a:rPr lang="en-US" dirty="0">
                <a:latin typeface="Times New Roman" panose="02020603050405020304" pitchFamily="18" charset="0"/>
                <a:cs typeface="Times New Roman" panose="02020603050405020304" pitchFamily="18" charset="0"/>
              </a:rPr>
              <a:t>Highest demand observed during April.</a:t>
            </a:r>
          </a:p>
          <a:p>
            <a:r>
              <a:rPr lang="en-US" dirty="0">
                <a:latin typeface="Times New Roman" panose="02020603050405020304" pitchFamily="18" charset="0"/>
                <a:cs typeface="Times New Roman" panose="02020603050405020304" pitchFamily="18" charset="0"/>
              </a:rPr>
              <a:t>Order volume remained strong in May and June.</a:t>
            </a:r>
          </a:p>
          <a:p>
            <a:r>
              <a:rPr lang="en-US" dirty="0">
                <a:latin typeface="Times New Roman" panose="02020603050405020304" pitchFamily="18" charset="0"/>
                <a:cs typeface="Times New Roman" panose="02020603050405020304" pitchFamily="18" charset="0"/>
              </a:rPr>
              <a:t>Slight decline observed after the peak period.</a:t>
            </a:r>
          </a:p>
          <a:p>
            <a:pPr marL="0" indent="0">
              <a:buNone/>
            </a:pPr>
            <a:r>
              <a:rPr lang="en-US" sz="2400" b="1" dirty="0">
                <a:latin typeface="Times New Roman" panose="02020603050405020304" pitchFamily="18" charset="0"/>
                <a:cs typeface="Times New Roman" panose="02020603050405020304" pitchFamily="18" charset="0"/>
              </a:rPr>
              <a:t>Insight</a:t>
            </a:r>
          </a:p>
          <a:p>
            <a:pPr marL="0" indent="0">
              <a:buNone/>
            </a:pPr>
            <a:r>
              <a:rPr lang="en-US" dirty="0">
                <a:latin typeface="Times New Roman" panose="02020603050405020304" pitchFamily="18" charset="0"/>
                <a:cs typeface="Times New Roman" panose="02020603050405020304" pitchFamily="18" charset="0"/>
              </a:rPr>
              <a:t>Demand exhibits seasonal patterns, making inventory</a:t>
            </a:r>
          </a:p>
          <a:p>
            <a:pPr marL="0" indent="0">
              <a:buNone/>
            </a:pPr>
            <a:r>
              <a:rPr lang="en-US" dirty="0">
                <a:latin typeface="Times New Roman" panose="02020603050405020304" pitchFamily="18" charset="0"/>
                <a:cs typeface="Times New Roman" panose="02020603050405020304" pitchFamily="18" charset="0"/>
              </a:rPr>
              <a:t>planning important during high-sales periods.</a:t>
            </a:r>
          </a:p>
          <a:p>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A2B22B9-E769-485E-93D3-28BA492D9BA5}"/>
              </a:ext>
            </a:extLst>
          </p:cNvPr>
          <p:cNvPicPr>
            <a:picLocks noChangeAspect="1"/>
          </p:cNvPicPr>
          <p:nvPr/>
        </p:nvPicPr>
        <p:blipFill>
          <a:blip r:embed="rId2"/>
          <a:stretch>
            <a:fillRect/>
          </a:stretch>
        </p:blipFill>
        <p:spPr>
          <a:xfrm>
            <a:off x="6811353" y="1640541"/>
            <a:ext cx="4152900" cy="3190875"/>
          </a:xfrm>
          <a:prstGeom prst="rect">
            <a:avLst/>
          </a:prstGeom>
        </p:spPr>
      </p:pic>
    </p:spTree>
    <p:extLst>
      <p:ext uri="{BB962C8B-B14F-4D97-AF65-F5344CB8AC3E}">
        <p14:creationId xmlns:p14="http://schemas.microsoft.com/office/powerpoint/2010/main" val="195954038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5EE8F-0BA4-4269-8093-5FB9030DC15A}"/>
              </a:ext>
            </a:extLst>
          </p:cNvPr>
          <p:cNvSpPr>
            <a:spLocks noGrp="1"/>
          </p:cNvSpPr>
          <p:nvPr>
            <p:ph type="title"/>
          </p:nvPr>
        </p:nvSpPr>
        <p:spPr>
          <a:xfrm>
            <a:off x="646111" y="452718"/>
            <a:ext cx="9404723" cy="954741"/>
          </a:xfrm>
        </p:spPr>
        <p:txBody>
          <a:bodyPr/>
          <a:lstStyle/>
          <a:p>
            <a:pPr algn="ctr"/>
            <a:r>
              <a:rPr lang="en-IN" sz="4400" dirty="0">
                <a:latin typeface="Times New Roman" panose="02020603050405020304" pitchFamily="18" charset="0"/>
                <a:cs typeface="Times New Roman" panose="02020603050405020304" pitchFamily="18" charset="0"/>
              </a:rPr>
              <a:t>Fulfilment &amp; Operational Analysis</a:t>
            </a:r>
          </a:p>
        </p:txBody>
      </p:sp>
      <p:sp>
        <p:nvSpPr>
          <p:cNvPr id="3" name="Content Placeholder 2">
            <a:extLst>
              <a:ext uri="{FF2B5EF4-FFF2-40B4-BE49-F238E27FC236}">
                <a16:creationId xmlns:a16="http://schemas.microsoft.com/office/drawing/2014/main" id="{906346B8-7C24-404F-AEA4-7C4EF11B7BA8}"/>
              </a:ext>
            </a:extLst>
          </p:cNvPr>
          <p:cNvSpPr>
            <a:spLocks noGrp="1"/>
          </p:cNvSpPr>
          <p:nvPr>
            <p:ph idx="1"/>
          </p:nvPr>
        </p:nvSpPr>
        <p:spPr>
          <a:xfrm>
            <a:off x="977153" y="1308848"/>
            <a:ext cx="10568735" cy="4939552"/>
          </a:xfrm>
        </p:spPr>
        <p:txBody>
          <a:bodyPr>
            <a:normAutofit lnSpcReduction="10000"/>
          </a:bodyPr>
          <a:lstStyle/>
          <a:p>
            <a:pPr marL="0" indent="0">
              <a:buNone/>
            </a:pPr>
            <a:r>
              <a:rPr lang="en-US" sz="2400" b="1" dirty="0">
                <a:latin typeface="Times New Roman" panose="02020603050405020304" pitchFamily="18" charset="0"/>
                <a:cs typeface="Times New Roman" panose="02020603050405020304" pitchFamily="18" charset="0"/>
              </a:rPr>
              <a:t>Fulfillment Distribution</a:t>
            </a:r>
          </a:p>
          <a:p>
            <a:r>
              <a:rPr lang="en-US" dirty="0">
                <a:latin typeface="Times New Roman" panose="02020603050405020304" pitchFamily="18" charset="0"/>
                <a:cs typeface="Times New Roman" panose="02020603050405020304" pitchFamily="18" charset="0"/>
              </a:rPr>
              <a:t>Amazon Fulfillment:</a:t>
            </a:r>
          </a:p>
          <a:p>
            <a:r>
              <a:rPr lang="en-US" dirty="0">
                <a:latin typeface="Times New Roman" panose="02020603050405020304" pitchFamily="18" charset="0"/>
                <a:cs typeface="Times New Roman" panose="02020603050405020304" pitchFamily="18" charset="0"/>
              </a:rPr>
              <a:t>69.52%</a:t>
            </a:r>
          </a:p>
          <a:p>
            <a:r>
              <a:rPr lang="en-US" dirty="0">
                <a:latin typeface="Times New Roman" panose="02020603050405020304" pitchFamily="18" charset="0"/>
                <a:cs typeface="Times New Roman" panose="02020603050405020304" pitchFamily="18" charset="0"/>
              </a:rPr>
              <a:t>Merchant Fulfillment:</a:t>
            </a:r>
          </a:p>
          <a:p>
            <a:r>
              <a:rPr lang="en-US" dirty="0">
                <a:latin typeface="Times New Roman" panose="02020603050405020304" pitchFamily="18" charset="0"/>
                <a:cs typeface="Times New Roman" panose="02020603050405020304" pitchFamily="18" charset="0"/>
              </a:rPr>
              <a:t>30.48%</a:t>
            </a:r>
          </a:p>
          <a:p>
            <a:pPr marL="0" indent="0">
              <a:buNone/>
            </a:pPr>
            <a:r>
              <a:rPr lang="en-US" sz="2400" b="1" dirty="0">
                <a:latin typeface="Times New Roman" panose="02020603050405020304" pitchFamily="18" charset="0"/>
                <a:cs typeface="Times New Roman" panose="02020603050405020304" pitchFamily="18" charset="0"/>
              </a:rPr>
              <a:t>Order Status Distribution</a:t>
            </a:r>
          </a:p>
          <a:p>
            <a:r>
              <a:rPr lang="en-US" dirty="0">
                <a:latin typeface="Times New Roman" panose="02020603050405020304" pitchFamily="18" charset="0"/>
                <a:cs typeface="Times New Roman" panose="02020603050405020304" pitchFamily="18" charset="0"/>
              </a:rPr>
              <a:t>Shipped: 60.18%</a:t>
            </a:r>
          </a:p>
          <a:p>
            <a:r>
              <a:rPr lang="en-US" dirty="0">
                <a:latin typeface="Times New Roman" panose="02020603050405020304" pitchFamily="18" charset="0"/>
                <a:cs typeface="Times New Roman" panose="02020603050405020304" pitchFamily="18" charset="0"/>
              </a:rPr>
              <a:t>Delivered: 22.24%</a:t>
            </a:r>
          </a:p>
          <a:p>
            <a:r>
              <a:rPr lang="en-US" dirty="0">
                <a:latin typeface="Times New Roman" panose="02020603050405020304" pitchFamily="18" charset="0"/>
                <a:cs typeface="Times New Roman" panose="02020603050405020304" pitchFamily="18" charset="0"/>
              </a:rPr>
              <a:t>Cancelled: 14.44%</a:t>
            </a:r>
          </a:p>
          <a:p>
            <a:pPr marL="0" indent="0">
              <a:buNone/>
            </a:pPr>
            <a:r>
              <a:rPr lang="en-US" sz="2400" b="1" dirty="0">
                <a:latin typeface="Times New Roman" panose="02020603050405020304" pitchFamily="18" charset="0"/>
                <a:cs typeface="Times New Roman" panose="02020603050405020304" pitchFamily="18" charset="0"/>
              </a:rPr>
              <a:t>Insight</a:t>
            </a:r>
          </a:p>
          <a:p>
            <a:r>
              <a:rPr lang="en-US" dirty="0">
                <a:latin typeface="Times New Roman" panose="02020603050405020304" pitchFamily="18" charset="0"/>
                <a:cs typeface="Times New Roman" panose="02020603050405020304" pitchFamily="18" charset="0"/>
              </a:rPr>
              <a:t>Amazon Fulfillment dominates operations and contributes significantly to order processing efficiency.</a:t>
            </a:r>
          </a:p>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9C6F95B-544C-473F-A9A1-D58EBD6F335D}"/>
              </a:ext>
            </a:extLst>
          </p:cNvPr>
          <p:cNvPicPr>
            <a:picLocks noChangeAspect="1"/>
          </p:cNvPicPr>
          <p:nvPr/>
        </p:nvPicPr>
        <p:blipFill>
          <a:blip r:embed="rId2"/>
          <a:stretch>
            <a:fillRect/>
          </a:stretch>
        </p:blipFill>
        <p:spPr>
          <a:xfrm>
            <a:off x="4509942" y="1724305"/>
            <a:ext cx="6595343" cy="2982166"/>
          </a:xfrm>
          <a:prstGeom prst="rect">
            <a:avLst/>
          </a:prstGeom>
        </p:spPr>
      </p:pic>
    </p:spTree>
    <p:extLst>
      <p:ext uri="{BB962C8B-B14F-4D97-AF65-F5344CB8AC3E}">
        <p14:creationId xmlns:p14="http://schemas.microsoft.com/office/powerpoint/2010/main" val="3612974206"/>
      </p:ext>
    </p:extLst>
  </p:cSld>
  <p:clrMapOvr>
    <a:masterClrMapping/>
  </p:clrMapOvr>
  <p:transition spd="slow">
    <p:wheel spokes="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7EAC8-EB82-48CD-B46B-07DBE55F667C}"/>
              </a:ext>
            </a:extLst>
          </p:cNvPr>
          <p:cNvSpPr>
            <a:spLocks noGrp="1"/>
          </p:cNvSpPr>
          <p:nvPr>
            <p:ph type="title"/>
          </p:nvPr>
        </p:nvSpPr>
        <p:spPr>
          <a:xfrm>
            <a:off x="646111" y="452718"/>
            <a:ext cx="9404723" cy="945776"/>
          </a:xfrm>
        </p:spPr>
        <p:txBody>
          <a:bodyPr/>
          <a:lstStyle/>
          <a:p>
            <a:pPr algn="ctr"/>
            <a:r>
              <a:rPr lang="en-IN" sz="4400" dirty="0">
                <a:latin typeface="Times New Roman" panose="02020603050405020304" pitchFamily="18" charset="0"/>
                <a:cs typeface="Times New Roman" panose="02020603050405020304" pitchFamily="18" charset="0"/>
              </a:rPr>
              <a:t>Business Challenges</a:t>
            </a:r>
          </a:p>
        </p:txBody>
      </p:sp>
      <p:sp>
        <p:nvSpPr>
          <p:cNvPr id="3" name="Content Placeholder 2">
            <a:extLst>
              <a:ext uri="{FF2B5EF4-FFF2-40B4-BE49-F238E27FC236}">
                <a16:creationId xmlns:a16="http://schemas.microsoft.com/office/drawing/2014/main" id="{9D210558-A0DA-4A57-8D7A-437DECAD059E}"/>
              </a:ext>
            </a:extLst>
          </p:cNvPr>
          <p:cNvSpPr>
            <a:spLocks noGrp="1"/>
          </p:cNvSpPr>
          <p:nvPr>
            <p:ph idx="1"/>
          </p:nvPr>
        </p:nvSpPr>
        <p:spPr>
          <a:xfrm>
            <a:off x="1103312" y="1398494"/>
            <a:ext cx="8946541" cy="4849905"/>
          </a:xfrm>
        </p:spPr>
        <p:txBody>
          <a:bodyPr/>
          <a:lstStyle/>
          <a:p>
            <a:pPr marL="0" indent="0">
              <a:buNone/>
            </a:pPr>
            <a:r>
              <a:rPr lang="en-US" sz="2400" b="1" dirty="0">
                <a:latin typeface="Times New Roman" panose="02020603050405020304" pitchFamily="18" charset="0"/>
                <a:cs typeface="Times New Roman" panose="02020603050405020304" pitchFamily="18" charset="0"/>
              </a:rPr>
              <a:t>Major Challenges Identified</a:t>
            </a:r>
          </a:p>
          <a:p>
            <a:r>
              <a:rPr lang="en-US" dirty="0">
                <a:latin typeface="Times New Roman" panose="02020603050405020304" pitchFamily="18" charset="0"/>
                <a:cs typeface="Times New Roman" panose="02020603050405020304" pitchFamily="18" charset="0"/>
              </a:rPr>
              <a:t>Revenue concentrated in a few categories.</a:t>
            </a:r>
          </a:p>
          <a:p>
            <a:r>
              <a:rPr lang="en-US" dirty="0">
                <a:latin typeface="Times New Roman" panose="02020603050405020304" pitchFamily="18" charset="0"/>
                <a:cs typeface="Times New Roman" panose="02020603050405020304" pitchFamily="18" charset="0"/>
              </a:rPr>
              <a:t>High cancellation volume.</a:t>
            </a:r>
          </a:p>
          <a:p>
            <a:r>
              <a:rPr lang="en-US" dirty="0">
                <a:latin typeface="Times New Roman" panose="02020603050405020304" pitchFamily="18" charset="0"/>
                <a:cs typeface="Times New Roman" panose="02020603050405020304" pitchFamily="18" charset="0"/>
              </a:rPr>
              <a:t>Dependence on specific geographic markets.</a:t>
            </a:r>
          </a:p>
          <a:p>
            <a:r>
              <a:rPr lang="en-US" dirty="0">
                <a:latin typeface="Times New Roman" panose="02020603050405020304" pitchFamily="18" charset="0"/>
                <a:cs typeface="Times New Roman" panose="02020603050405020304" pitchFamily="18" charset="0"/>
              </a:rPr>
              <a:t>Seasonal demand fluctuations.</a:t>
            </a:r>
          </a:p>
          <a:p>
            <a:r>
              <a:rPr lang="en-US" dirty="0">
                <a:latin typeface="Times New Roman" panose="02020603050405020304" pitchFamily="18" charset="0"/>
                <a:cs typeface="Times New Roman" panose="02020603050405020304" pitchFamily="18" charset="0"/>
              </a:rPr>
              <a:t>Underperforming product categories.</a:t>
            </a:r>
          </a:p>
          <a:p>
            <a:pPr marL="0" indent="0">
              <a:buNone/>
            </a:pPr>
            <a:r>
              <a:rPr lang="en-US" sz="2400" b="1" dirty="0">
                <a:latin typeface="Times New Roman" panose="02020603050405020304" pitchFamily="18" charset="0"/>
                <a:cs typeface="Times New Roman" panose="02020603050405020304" pitchFamily="18" charset="0"/>
              </a:rPr>
              <a:t>Impact</a:t>
            </a:r>
          </a:p>
          <a:p>
            <a:r>
              <a:rPr lang="en-US" dirty="0">
                <a:latin typeface="Times New Roman" panose="02020603050405020304" pitchFamily="18" charset="0"/>
                <a:cs typeface="Times New Roman" panose="02020603050405020304" pitchFamily="18" charset="0"/>
              </a:rPr>
              <a:t>These challenges may limit future growth if not addressed strategically.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453732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C06AA-B50B-42A3-AEE8-2FD6A322EB64}"/>
              </a:ext>
            </a:extLst>
          </p:cNvPr>
          <p:cNvSpPr>
            <a:spLocks noGrp="1"/>
          </p:cNvSpPr>
          <p:nvPr>
            <p:ph type="title"/>
          </p:nvPr>
        </p:nvSpPr>
        <p:spPr>
          <a:xfrm>
            <a:off x="646111" y="224118"/>
            <a:ext cx="9404723" cy="833717"/>
          </a:xfrm>
        </p:spPr>
        <p:txBody>
          <a:bodyPr/>
          <a:lstStyle/>
          <a:p>
            <a:pPr algn="ctr"/>
            <a:r>
              <a:rPr lang="en-IN" sz="4400" dirty="0">
                <a:latin typeface="Times New Roman" panose="02020603050405020304" pitchFamily="18" charset="0"/>
                <a:cs typeface="Times New Roman" panose="02020603050405020304" pitchFamily="18" charset="0"/>
              </a:rPr>
              <a:t>Strategic Recommendations</a:t>
            </a:r>
          </a:p>
        </p:txBody>
      </p:sp>
      <p:sp>
        <p:nvSpPr>
          <p:cNvPr id="3" name="Content Placeholder 2">
            <a:extLst>
              <a:ext uri="{FF2B5EF4-FFF2-40B4-BE49-F238E27FC236}">
                <a16:creationId xmlns:a16="http://schemas.microsoft.com/office/drawing/2014/main" id="{A0BEEDCB-BAC6-4D08-BF32-8E6EAD3C65D5}"/>
              </a:ext>
            </a:extLst>
          </p:cNvPr>
          <p:cNvSpPr>
            <a:spLocks noGrp="1"/>
          </p:cNvSpPr>
          <p:nvPr>
            <p:ph idx="1"/>
          </p:nvPr>
        </p:nvSpPr>
        <p:spPr>
          <a:xfrm>
            <a:off x="762000" y="995082"/>
            <a:ext cx="10049435" cy="5410200"/>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Recommended Actions</a:t>
            </a: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Increase Investment In</a:t>
            </a:r>
          </a:p>
          <a:p>
            <a:pPr>
              <a:buFont typeface="Wingdings" panose="05000000000000000000" pitchFamily="2" charset="2"/>
              <a:buChar char="Ø"/>
            </a:pPr>
            <a:endParaRPr lang="en-US" sz="1800" b="1"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18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Expand Marketing In</a:t>
            </a: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Operational Improvements</a:t>
            </a:r>
          </a:p>
          <a:p>
            <a:r>
              <a:rPr lang="en-IN" sz="1800" dirty="0">
                <a:latin typeface="Times New Roman" panose="02020603050405020304" pitchFamily="18" charset="0"/>
                <a:cs typeface="Times New Roman" panose="02020603050405020304" pitchFamily="18" charset="0"/>
              </a:rPr>
              <a:t>Reduce cancellations</a:t>
            </a:r>
          </a:p>
          <a:p>
            <a:r>
              <a:rPr lang="en-IN" sz="1800" dirty="0">
                <a:latin typeface="Times New Roman" panose="02020603050405020304" pitchFamily="18" charset="0"/>
                <a:cs typeface="Times New Roman" panose="02020603050405020304" pitchFamily="18" charset="0"/>
              </a:rPr>
              <a:t>Improve inventory management</a:t>
            </a:r>
          </a:p>
          <a:p>
            <a:r>
              <a:rPr lang="en-IN" sz="1800" dirty="0">
                <a:latin typeface="Times New Roman" panose="02020603050405020304" pitchFamily="18" charset="0"/>
                <a:cs typeface="Times New Roman" panose="02020603050405020304" pitchFamily="18" charset="0"/>
              </a:rPr>
              <a:t>Optimize </a:t>
            </a:r>
            <a:r>
              <a:rPr lang="en-IN" sz="1800" dirty="0" err="1">
                <a:latin typeface="Times New Roman" panose="02020603050405020304" pitchFamily="18" charset="0"/>
                <a:cs typeface="Times New Roman" panose="02020603050405020304" pitchFamily="18" charset="0"/>
              </a:rPr>
              <a:t>fulfillment</a:t>
            </a:r>
            <a:r>
              <a:rPr lang="en-IN" sz="1800" dirty="0">
                <a:latin typeface="Times New Roman" panose="02020603050405020304" pitchFamily="18" charset="0"/>
                <a:cs typeface="Times New Roman" panose="02020603050405020304" pitchFamily="18" charset="0"/>
              </a:rPr>
              <a:t> performance</a:t>
            </a:r>
          </a:p>
          <a:p>
            <a:r>
              <a:rPr lang="en-IN" sz="1800" dirty="0">
                <a:latin typeface="Times New Roman" panose="02020603050405020304" pitchFamily="18" charset="0"/>
                <a:cs typeface="Times New Roman" panose="02020603050405020304" pitchFamily="18" charset="0"/>
              </a:rPr>
              <a:t>Improve customer experience</a:t>
            </a:r>
          </a:p>
          <a:p>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C222E06-EE58-4D77-8F01-038ADE035906}"/>
              </a:ext>
            </a:extLst>
          </p:cNvPr>
          <p:cNvGraphicFramePr>
            <a:graphicFrameLocks noGrp="1"/>
          </p:cNvGraphicFramePr>
          <p:nvPr>
            <p:extLst>
              <p:ext uri="{D42A27DB-BD31-4B8C-83A1-F6EECF244321}">
                <p14:modId xmlns:p14="http://schemas.microsoft.com/office/powerpoint/2010/main" val="1537608022"/>
              </p:ext>
            </p:extLst>
          </p:nvPr>
        </p:nvGraphicFramePr>
        <p:xfrm>
          <a:off x="1284472" y="1987026"/>
          <a:ext cx="8128000" cy="792480"/>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2326435523"/>
                    </a:ext>
                  </a:extLst>
                </a:gridCol>
                <a:gridCol w="4064000">
                  <a:extLst>
                    <a:ext uri="{9D8B030D-6E8A-4147-A177-3AD203B41FA5}">
                      <a16:colId xmlns:a16="http://schemas.microsoft.com/office/drawing/2014/main" val="4160874951"/>
                    </a:ext>
                  </a:extLst>
                </a:gridCol>
              </a:tblGrid>
              <a:tr h="370840">
                <a:tc>
                  <a:txBody>
                    <a:bodyPr/>
                    <a:lstStyle/>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Set Category </a:t>
                      </a:r>
                    </a:p>
                  </a:txBody>
                  <a:tcPr/>
                </a:tc>
                <a:tc>
                  <a:txBody>
                    <a:bodyPr/>
                    <a:lstStyle/>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Western Dress Category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07779465"/>
                  </a:ext>
                </a:extLst>
              </a:tr>
              <a:tr h="370840">
                <a:tc>
                  <a:txBody>
                    <a:bodyPr/>
                    <a:lstStyle/>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Kurta Category</a:t>
                      </a:r>
                      <a:endParaRPr lang="en-IN" sz="20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Top Category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77547726"/>
                  </a:ext>
                </a:extLst>
              </a:tr>
            </a:tbl>
          </a:graphicData>
        </a:graphic>
      </p:graphicFrame>
      <p:graphicFrame>
        <p:nvGraphicFramePr>
          <p:cNvPr id="5" name="Table 4">
            <a:extLst>
              <a:ext uri="{FF2B5EF4-FFF2-40B4-BE49-F238E27FC236}">
                <a16:creationId xmlns:a16="http://schemas.microsoft.com/office/drawing/2014/main" id="{728EF89E-2001-4777-9705-AC358AF925B8}"/>
              </a:ext>
            </a:extLst>
          </p:cNvPr>
          <p:cNvGraphicFramePr>
            <a:graphicFrameLocks noGrp="1"/>
          </p:cNvGraphicFramePr>
          <p:nvPr>
            <p:extLst>
              <p:ext uri="{D42A27DB-BD31-4B8C-83A1-F6EECF244321}">
                <p14:modId xmlns:p14="http://schemas.microsoft.com/office/powerpoint/2010/main" val="3666839417"/>
              </p:ext>
            </p:extLst>
          </p:nvPr>
        </p:nvGraphicFramePr>
        <p:xfrm>
          <a:off x="1380565" y="3682255"/>
          <a:ext cx="8128000" cy="792480"/>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1498978310"/>
                    </a:ext>
                  </a:extLst>
                </a:gridCol>
                <a:gridCol w="4064000">
                  <a:extLst>
                    <a:ext uri="{9D8B030D-6E8A-4147-A177-3AD203B41FA5}">
                      <a16:colId xmlns:a16="http://schemas.microsoft.com/office/drawing/2014/main" val="1622025342"/>
                    </a:ext>
                  </a:extLst>
                </a:gridCol>
              </a:tblGrid>
              <a:tr h="370840">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2000" dirty="0">
                          <a:latin typeface="Times New Roman" panose="02020603050405020304" pitchFamily="18" charset="0"/>
                          <a:cs typeface="Times New Roman" panose="02020603050405020304" pitchFamily="18" charset="0"/>
                        </a:rPr>
                        <a:t>Maharashtra</a:t>
                      </a:r>
                      <a:endParaRPr lang="en-IN" sz="2000" b="0" dirty="0">
                        <a:latin typeface="Times New Roman" panose="02020603050405020304" pitchFamily="18" charset="0"/>
                        <a:cs typeface="Times New Roman" panose="02020603050405020304" pitchFamily="18" charset="0"/>
                      </a:endParaRPr>
                    </a:p>
                  </a:txBody>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2000" dirty="0">
                          <a:latin typeface="Times New Roman" panose="02020603050405020304" pitchFamily="18" charset="0"/>
                          <a:cs typeface="Times New Roman" panose="02020603050405020304" pitchFamily="18" charset="0"/>
                        </a:rPr>
                        <a:t>Tamil Nadu</a:t>
                      </a:r>
                      <a:endParaRPr lang="en-IN"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86384759"/>
                  </a:ext>
                </a:extLst>
              </a:tr>
              <a:tr h="370840">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2000" dirty="0">
                          <a:latin typeface="Times New Roman" panose="02020603050405020304" pitchFamily="18" charset="0"/>
                          <a:cs typeface="Times New Roman" panose="02020603050405020304" pitchFamily="18" charset="0"/>
                        </a:rPr>
                        <a:t>Karnataka</a:t>
                      </a:r>
                      <a:endParaRPr lang="en-IN" sz="2000" b="0" dirty="0">
                        <a:latin typeface="Times New Roman" panose="02020603050405020304" pitchFamily="18" charset="0"/>
                        <a:cs typeface="Times New Roman" panose="02020603050405020304" pitchFamily="18" charset="0"/>
                      </a:endParaRPr>
                    </a:p>
                  </a:txBody>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2000" dirty="0">
                          <a:latin typeface="Times New Roman" panose="02020603050405020304" pitchFamily="18" charset="0"/>
                          <a:cs typeface="Times New Roman" panose="02020603050405020304" pitchFamily="18" charset="0"/>
                        </a:rPr>
                        <a:t>Telangana</a:t>
                      </a:r>
                      <a:endParaRPr lang="en-IN"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9405452"/>
                  </a:ext>
                </a:extLst>
              </a:tr>
            </a:tbl>
          </a:graphicData>
        </a:graphic>
      </p:graphicFrame>
    </p:spTree>
    <p:extLst>
      <p:ext uri="{BB962C8B-B14F-4D97-AF65-F5344CB8AC3E}">
        <p14:creationId xmlns:p14="http://schemas.microsoft.com/office/powerpoint/2010/main" val="220176680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9E634-9D09-4664-9923-1C645B3E64BD}"/>
              </a:ext>
            </a:extLst>
          </p:cNvPr>
          <p:cNvSpPr>
            <a:spLocks noGrp="1"/>
          </p:cNvSpPr>
          <p:nvPr>
            <p:ph type="title"/>
          </p:nvPr>
        </p:nvSpPr>
        <p:spPr>
          <a:xfrm>
            <a:off x="646111" y="452718"/>
            <a:ext cx="9404723" cy="748553"/>
          </a:xfrm>
        </p:spPr>
        <p:txBody>
          <a:bodyPr/>
          <a:lstStyle/>
          <a:p>
            <a:pPr algn="ctr"/>
            <a:r>
              <a:rPr lang="en-IN" sz="40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29D487FF-AB50-4908-A39C-EB44F638C32D}"/>
              </a:ext>
            </a:extLst>
          </p:cNvPr>
          <p:cNvSpPr>
            <a:spLocks noGrp="1"/>
          </p:cNvSpPr>
          <p:nvPr>
            <p:ph idx="1"/>
          </p:nvPr>
        </p:nvSpPr>
        <p:spPr>
          <a:xfrm>
            <a:off x="1103312" y="1290918"/>
            <a:ext cx="9404723" cy="4598893"/>
          </a:xfrm>
        </p:spPr>
        <p:txBody>
          <a:bodyPr/>
          <a:lstStyle/>
          <a:p>
            <a:pPr algn="just"/>
            <a:r>
              <a:rPr lang="en-US" sz="2400" b="1" dirty="0">
                <a:latin typeface="Times New Roman" panose="02020603050405020304" pitchFamily="18" charset="0"/>
                <a:cs typeface="Times New Roman" panose="02020603050405020304" pitchFamily="18" charset="0"/>
              </a:rPr>
              <a:t>Project Summary</a:t>
            </a:r>
          </a:p>
          <a:p>
            <a:pPr algn="just"/>
            <a:r>
              <a:rPr lang="en-US" dirty="0">
                <a:latin typeface="Times New Roman" panose="02020603050405020304" pitchFamily="18" charset="0"/>
                <a:cs typeface="Times New Roman" panose="02020603050405020304" pitchFamily="18" charset="0"/>
              </a:rPr>
              <a:t>The analysis revealed strong sales concentration in specific categories and regions. Set and Kurta products emerged as key revenue drivers, while Maharashtra and Bengaluru were identified as the most valuable markets.</a:t>
            </a:r>
          </a:p>
          <a:p>
            <a:pPr algn="just"/>
            <a:r>
              <a:rPr lang="en-US" dirty="0">
                <a:latin typeface="Times New Roman" panose="02020603050405020304" pitchFamily="18" charset="0"/>
                <a:cs typeface="Times New Roman" panose="02020603050405020304" pitchFamily="18" charset="0"/>
              </a:rPr>
              <a:t>By focusing on high-performing categories, improving fulfillment efficiency, reducing cancellations, and expanding successful regional strategies, Amazon sellers can significantly improve profitability and business growth.</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ctr">
              <a:buNone/>
            </a:pPr>
            <a:r>
              <a:rPr lang="en-US" sz="6000" dirty="0">
                <a:latin typeface="Edwardian Script ITC" panose="030303020407070D0804" pitchFamily="66" charset="0"/>
                <a:cs typeface="Times New Roman" panose="02020603050405020304" pitchFamily="18" charset="0"/>
              </a:rPr>
              <a:t>Thank You</a:t>
            </a:r>
            <a:endParaRPr lang="en-IN" sz="6000" dirty="0">
              <a:latin typeface="Edwardian Script ITC" panose="030303020407070D0804" pitchFamily="66" charset="0"/>
              <a:cs typeface="Times New Roman" panose="02020603050405020304" pitchFamily="18" charset="0"/>
            </a:endParaRPr>
          </a:p>
        </p:txBody>
      </p:sp>
    </p:spTree>
    <p:extLst>
      <p:ext uri="{BB962C8B-B14F-4D97-AF65-F5344CB8AC3E}">
        <p14:creationId xmlns:p14="http://schemas.microsoft.com/office/powerpoint/2010/main" val="3935062197"/>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Slice</Template>
  <TotalTime>100</TotalTime>
  <Words>530</Words>
  <Application>Microsoft Office PowerPoint</Application>
  <PresentationFormat>Widescreen</PresentationFormat>
  <Paragraphs>147</Paragraphs>
  <Slides>12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Arial</vt:lpstr>
      <vt:lpstr>Calibri</vt:lpstr>
      <vt:lpstr>Century Gothic</vt:lpstr>
      <vt:lpstr>Edwardian Script ITC</vt:lpstr>
      <vt:lpstr>Times New Roman</vt:lpstr>
      <vt:lpstr>Wingdings</vt:lpstr>
      <vt:lpstr>Wingdings 3</vt:lpstr>
      <vt:lpstr>Slice</vt:lpstr>
      <vt:lpstr>Ion</vt:lpstr>
      <vt:lpstr>Amazon Order Performance Dashboard Data Analysis Project Prepared by                   Koduri Venkata Swathi</vt:lpstr>
      <vt:lpstr>PowerPoint Presentation</vt:lpstr>
      <vt:lpstr>PowerPoint Presentation</vt:lpstr>
      <vt:lpstr>Data Cleaning Process</vt:lpstr>
      <vt:lpstr>Key KPIs</vt:lpstr>
      <vt:lpstr>Product Category Analysis</vt:lpstr>
      <vt:lpstr>Geographic Analysis</vt:lpstr>
      <vt:lpstr>Revenue Trend Analysis</vt:lpstr>
      <vt:lpstr>Fulfilment &amp; Operational Analysis</vt:lpstr>
      <vt:lpstr>Business Challenges</vt:lpstr>
      <vt:lpstr>Strategic Recommendations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Order Performance Dashboard Data Analysis Project Prepared by                   Koduri Venkata Swathi</dc:title>
  <dc:creator>HP</dc:creator>
  <cp:lastModifiedBy>HP</cp:lastModifiedBy>
  <cp:revision>12</cp:revision>
  <dcterms:created xsi:type="dcterms:W3CDTF">2026-06-17T11:28:02Z</dcterms:created>
  <dcterms:modified xsi:type="dcterms:W3CDTF">2026-06-17T13:09:01Z</dcterms:modified>
</cp:coreProperties>
</file>